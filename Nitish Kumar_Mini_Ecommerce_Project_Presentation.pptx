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36162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Based on uploaded assignment brief and uploaded ZIP source code for the Mini Ecommerce App.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Problem statement, actors, flow, and scope derived from uploaded capstone brief. Implementation points aligned with uploaded ZIP source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Architecture, gateway routes, ports, MySQL, Kafka, and observability details derived from application.properties and pom.xml files in the uploaded ZIP.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Dependencies verified from frontend package.json and backend pom.xml/application.properties in the uploaded ZIP.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Results inferred from Angular routes/components/services and backend service structure in the uploaded ZIP.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Conclusions and limitations are based on the uploaded ZIP implementation details and the capstone brief requirements.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47556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47556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1483" y="0"/>
            <a:ext cx="4070517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rgbClr val="111C34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Text 1"/>
          <p:cNvSpPr/>
          <p:nvPr/>
        </p:nvSpPr>
        <p:spPr>
          <a:xfrm>
            <a:off x="749808" y="1572768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MINI ECOMMERCE APP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49808" y="228600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BD5E1"/>
                </a:solidFill>
              </a:rPr>
              <a:t>Angular + Spring Boot + MySQL Microservices Project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49808" y="274320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3C5FD"/>
                </a:solidFill>
              </a:rPr>
              <a:t>Project </a:t>
            </a:r>
            <a:r>
              <a:rPr lang="en-US" sz="1500" b="1" dirty="0">
                <a:solidFill>
                  <a:srgbClr val="93C5FD"/>
                </a:solidFill>
              </a:rPr>
              <a:t>Presentation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44431" y="3639312"/>
            <a:ext cx="2011680" cy="411480"/>
          </a:xfrm>
          <a:prstGeom prst="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563EB"/>
                </a:solidFill>
              </a:rPr>
              <a:t>Frontend: Angular 19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914502" y="3630168"/>
            <a:ext cx="2312032" cy="411480"/>
          </a:xfrm>
          <a:prstGeom prst="rect">
            <a:avLst/>
          </a:prstGeom>
          <a:solidFill>
            <a:schemeClr val="bg1"/>
          </a:solidFill>
          <a:ln>
            <a:solidFill>
              <a:srgbClr val="DCFCE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/>
              <a:t>Backend: Spring Boot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384925" y="3606282"/>
            <a:ext cx="1731983" cy="411480"/>
          </a:xfrm>
          <a:prstGeom prst="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2400E"/>
                </a:solidFill>
              </a:rPr>
              <a:t>Database: MySQL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49808" y="5445967"/>
            <a:ext cx="4380992" cy="997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Nitish Kumar</a:t>
            </a:r>
          </a:p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Guided by : Mr. Jayanta K Das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75357" y="6242304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</a:rPr>
              <a:t>Wipro Capstone Mini Project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869680" y="1170432"/>
            <a:ext cx="1828800" cy="512064"/>
          </a:xfrm>
          <a:prstGeom prst="roundRect">
            <a:avLst>
              <a:gd name="adj" fmla="val 14286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2" name="Text 10"/>
          <p:cNvSpPr/>
          <p:nvPr/>
        </p:nvSpPr>
        <p:spPr>
          <a:xfrm>
            <a:off x="8851392" y="1335024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2563EB"/>
                </a:solidFill>
              </a:rPr>
              <a:t>Angular UI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8869680" y="2084832"/>
            <a:ext cx="1828800" cy="512064"/>
          </a:xfrm>
          <a:prstGeom prst="roundRect">
            <a:avLst>
              <a:gd name="adj" fmla="val 14286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69680" y="2212848"/>
            <a:ext cx="1828800" cy="252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7C3AED"/>
                </a:solidFill>
              </a:rPr>
              <a:t>API Gateway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8869680" y="2999232"/>
            <a:ext cx="1828800" cy="512064"/>
          </a:xfrm>
          <a:prstGeom prst="roundRect">
            <a:avLst>
              <a:gd name="adj" fmla="val 14286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869680" y="3127248"/>
            <a:ext cx="1828800" cy="1760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6A34A"/>
                </a:solidFill>
              </a:rPr>
              <a:t>Microservices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8869680" y="3913632"/>
            <a:ext cx="1828800" cy="512064"/>
          </a:xfrm>
          <a:prstGeom prst="roundRect">
            <a:avLst>
              <a:gd name="adj" fmla="val 14286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69680" y="4086435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92400E"/>
                </a:solidFill>
              </a:rPr>
              <a:t>MySQL + Kafka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9637776" y="1819656"/>
            <a:ext cx="292608" cy="164592"/>
          </a:xfrm>
          <a:prstGeom prst="chevron">
            <a:avLst/>
          </a:prstGeom>
          <a:solidFill>
            <a:schemeClr val="bg1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619488" y="2703576"/>
            <a:ext cx="292608" cy="164592"/>
          </a:xfrm>
          <a:prstGeom prst="chevron">
            <a:avLst/>
          </a:prstGeom>
          <a:solidFill>
            <a:schemeClr val="bg1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619488" y="3639312"/>
            <a:ext cx="292608" cy="164592"/>
          </a:xfrm>
          <a:prstGeom prst="chevron">
            <a:avLst/>
          </a:prstGeom>
          <a:solidFill>
            <a:schemeClr val="bg1"/>
          </a:solidFill>
          <a:ln w="12700">
            <a:solidFill>
              <a:srgbClr val="64748B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148" y="347471"/>
            <a:ext cx="4934591" cy="432397"/>
          </a:xfrm>
          <a:prstGeom prst="rect">
            <a:avLst/>
          </a:prstGeom>
          <a:noFill/>
          <a:ln>
            <a:noFill/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Problem Statement &amp; Objectives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33148" y="1234338"/>
            <a:ext cx="3702202" cy="4710663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2700">
            <a:solidFill>
              <a:srgbClr val="002060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353312"/>
            <a:ext cx="987552" cy="283464"/>
          </a:xfrm>
          <a:prstGeom prst="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63EB"/>
                </a:solidFill>
              </a:rPr>
              <a:t>Background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67163" y="1874520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8606" y="1667957"/>
            <a:ext cx="3063427" cy="1252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20" dirty="0">
                <a:solidFill>
                  <a:srgbClr val="0F172A"/>
                </a:solidFill>
              </a:rPr>
              <a:t>The project builds a mini ecommerce application using separate services for user, product, and order management</a:t>
            </a:r>
          </a:p>
        </p:txBody>
      </p:sp>
      <p:sp>
        <p:nvSpPr>
          <p:cNvPr id="9" name="Text 7"/>
          <p:cNvSpPr/>
          <p:nvPr/>
        </p:nvSpPr>
        <p:spPr>
          <a:xfrm>
            <a:off x="1028606" y="3079598"/>
            <a:ext cx="3173155" cy="10546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20" dirty="0">
                <a:solidFill>
                  <a:srgbClr val="0F172A"/>
                </a:solidFill>
              </a:rPr>
              <a:t>It supports two actors: Admin for product control and Customer for browsing, ordering, and tracking orders.</a:t>
            </a:r>
            <a:endParaRPr lang="en-US" sz="1720" dirty="0"/>
          </a:p>
        </p:txBody>
      </p:sp>
      <p:sp>
        <p:nvSpPr>
          <p:cNvPr id="10" name="Shape 8"/>
          <p:cNvSpPr/>
          <p:nvPr/>
        </p:nvSpPr>
        <p:spPr>
          <a:xfrm>
            <a:off x="766416" y="3167787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47080" y="4370730"/>
            <a:ext cx="3044953" cy="1252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20" dirty="0">
                <a:solidFill>
                  <a:srgbClr val="0F172A"/>
                </a:solidFill>
              </a:rPr>
              <a:t>The brief also expects microservice patterns such as CQRS, Feign communication, Kafka events, SAGA, and role-based access.</a:t>
            </a:r>
            <a:endParaRPr lang="en-US" sz="1720" dirty="0"/>
          </a:p>
        </p:txBody>
      </p:sp>
      <p:sp>
        <p:nvSpPr>
          <p:cNvPr id="12" name="Shape 10"/>
          <p:cNvSpPr/>
          <p:nvPr/>
        </p:nvSpPr>
        <p:spPr>
          <a:xfrm>
            <a:off x="4437637" y="1239801"/>
            <a:ext cx="3639312" cy="4710663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2700">
            <a:solidFill>
              <a:srgbClr val="002060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82312" y="1353312"/>
            <a:ext cx="1005840" cy="283464"/>
          </a:xfrm>
          <a:prstGeom prst="rect">
            <a:avLst/>
          </a:prstGeom>
          <a:solidFill>
            <a:srgbClr val="CCFBF1"/>
          </a:solidFill>
          <a:ln>
            <a:solidFill>
              <a:srgbClr val="CCFBF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766E"/>
                </a:solidFill>
              </a:rPr>
              <a:t>Objectives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83480" y="1783079"/>
            <a:ext cx="2788920" cy="7958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20" dirty="0">
                <a:solidFill>
                  <a:srgbClr val="0F172A"/>
                </a:solidFill>
              </a:rPr>
              <a:t>Implement login, registration, profile update, and role-based navigation.</a:t>
            </a:r>
            <a:endParaRPr lang="en-US" sz="1720" dirty="0"/>
          </a:p>
        </p:txBody>
      </p:sp>
      <p:sp>
        <p:nvSpPr>
          <p:cNvPr id="17" name="Text 15"/>
          <p:cNvSpPr/>
          <p:nvPr/>
        </p:nvSpPr>
        <p:spPr>
          <a:xfrm>
            <a:off x="4960527" y="2671345"/>
            <a:ext cx="3141057" cy="955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20" dirty="0">
                <a:solidFill>
                  <a:srgbClr val="0F172A"/>
                </a:solidFill>
              </a:rPr>
              <a:t>Provide product CRUD for admin and product catalog browsing for customers.</a:t>
            </a:r>
            <a:endParaRPr lang="en-US" sz="1720" dirty="0"/>
          </a:p>
        </p:txBody>
      </p:sp>
      <p:sp>
        <p:nvSpPr>
          <p:cNvPr id="18" name="Shape 16"/>
          <p:cNvSpPr/>
          <p:nvPr/>
        </p:nvSpPr>
        <p:spPr>
          <a:xfrm>
            <a:off x="4717372" y="1887877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59315" y="3717569"/>
            <a:ext cx="2947728" cy="8162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20" dirty="0">
                <a:solidFill>
                  <a:srgbClr val="0F172A"/>
                </a:solidFill>
              </a:rPr>
              <a:t>Support cart, checkout flow, order placement, and order cancellation.</a:t>
            </a:r>
            <a:endParaRPr lang="en-US" sz="1720" dirty="0"/>
          </a:p>
        </p:txBody>
      </p:sp>
      <p:sp>
        <p:nvSpPr>
          <p:cNvPr id="21" name="Text 19"/>
          <p:cNvSpPr/>
          <p:nvPr/>
        </p:nvSpPr>
        <p:spPr>
          <a:xfrm>
            <a:off x="4959315" y="4789119"/>
            <a:ext cx="2542032" cy="498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20" dirty="0">
                <a:solidFill>
                  <a:srgbClr val="0F172A"/>
                </a:solidFill>
              </a:rPr>
              <a:t>Expose REST APIs through a central API Gateway.</a:t>
            </a:r>
            <a:endParaRPr lang="en-US" sz="1720" dirty="0"/>
          </a:p>
        </p:txBody>
      </p:sp>
      <p:sp>
        <p:nvSpPr>
          <p:cNvPr id="22" name="Shape 20"/>
          <p:cNvSpPr/>
          <p:nvPr/>
        </p:nvSpPr>
        <p:spPr>
          <a:xfrm>
            <a:off x="8220456" y="1214276"/>
            <a:ext cx="3702202" cy="4710663"/>
          </a:xfrm>
          <a:prstGeom prst="roundRect">
            <a:avLst>
              <a:gd name="adj" fmla="val 1759"/>
            </a:avLst>
          </a:prstGeom>
          <a:solidFill>
            <a:srgbClr val="FFFFFF"/>
          </a:solidFill>
          <a:ln w="12700">
            <a:solidFill>
              <a:srgbClr val="002060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23" name="Text 21"/>
          <p:cNvSpPr/>
          <p:nvPr/>
        </p:nvSpPr>
        <p:spPr>
          <a:xfrm>
            <a:off x="8559344" y="1351610"/>
            <a:ext cx="713232" cy="283464"/>
          </a:xfrm>
          <a:prstGeom prst="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2400E"/>
                </a:solidFill>
              </a:rPr>
              <a:t>Scope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559344" y="1743503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A34A"/>
                </a:solidFill>
              </a:rPr>
              <a:t>Included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8622792" y="2124084"/>
            <a:ext cx="2724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20" dirty="0">
                <a:solidFill>
                  <a:srgbClr val="0F172A"/>
                </a:solidFill>
              </a:rPr>
              <a:t>Angular UI screens and guarded routes</a:t>
            </a:r>
            <a:endParaRPr lang="en-US" sz="1520" dirty="0"/>
          </a:p>
        </p:txBody>
      </p:sp>
      <p:sp>
        <p:nvSpPr>
          <p:cNvPr id="27" name="Shape 25"/>
          <p:cNvSpPr/>
          <p:nvPr/>
        </p:nvSpPr>
        <p:spPr>
          <a:xfrm>
            <a:off x="8359389" y="2124084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22792" y="2645538"/>
            <a:ext cx="2724912" cy="441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20" dirty="0">
                <a:solidFill>
                  <a:srgbClr val="0F172A"/>
                </a:solidFill>
              </a:rPr>
              <a:t>Gateway, Eureka, Config Server, and microservices</a:t>
            </a:r>
            <a:endParaRPr lang="en-US" sz="1520" dirty="0"/>
          </a:p>
        </p:txBody>
      </p:sp>
      <p:sp>
        <p:nvSpPr>
          <p:cNvPr id="29" name="Shape 27"/>
          <p:cNvSpPr/>
          <p:nvPr/>
        </p:nvSpPr>
        <p:spPr>
          <a:xfrm>
            <a:off x="8359389" y="2704650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650784" y="3219025"/>
            <a:ext cx="2724912" cy="441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20" dirty="0">
                <a:solidFill>
                  <a:srgbClr val="0F172A"/>
                </a:solidFill>
              </a:rPr>
              <a:t>Swagger, Kafka, tracing and metrics configuration</a:t>
            </a:r>
            <a:endParaRPr lang="en-US" sz="1520" dirty="0"/>
          </a:p>
        </p:txBody>
      </p:sp>
      <p:sp>
        <p:nvSpPr>
          <p:cNvPr id="31" name="Text 29"/>
          <p:cNvSpPr/>
          <p:nvPr/>
        </p:nvSpPr>
        <p:spPr>
          <a:xfrm>
            <a:off x="8630257" y="3672394"/>
            <a:ext cx="2070090" cy="4913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F4444"/>
                </a:solidFill>
              </a:rPr>
              <a:t>Excluded</a:t>
            </a:r>
            <a:endParaRPr lang="en-US" sz="1700" dirty="0"/>
          </a:p>
        </p:txBody>
      </p:sp>
      <p:sp>
        <p:nvSpPr>
          <p:cNvPr id="32" name="Shape 30"/>
          <p:cNvSpPr/>
          <p:nvPr/>
        </p:nvSpPr>
        <p:spPr>
          <a:xfrm>
            <a:off x="8357865" y="4204498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622792" y="4217734"/>
            <a:ext cx="2724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20" dirty="0">
                <a:solidFill>
                  <a:srgbClr val="0F172A"/>
                </a:solidFill>
              </a:rPr>
              <a:t>Real payment gateway integration</a:t>
            </a:r>
            <a:endParaRPr lang="en-US" sz="1520" dirty="0"/>
          </a:p>
        </p:txBody>
      </p:sp>
      <p:sp>
        <p:nvSpPr>
          <p:cNvPr id="34" name="Shape 32"/>
          <p:cNvSpPr/>
          <p:nvPr/>
        </p:nvSpPr>
        <p:spPr>
          <a:xfrm>
            <a:off x="8358830" y="4741983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619505" y="4666592"/>
            <a:ext cx="2888498" cy="441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20" dirty="0">
                <a:solidFill>
                  <a:srgbClr val="0F172A"/>
                </a:solidFill>
              </a:rPr>
              <a:t>Production deployment / cloud hosting</a:t>
            </a:r>
            <a:endParaRPr lang="en-US" sz="1520" dirty="0"/>
          </a:p>
        </p:txBody>
      </p:sp>
      <p:sp>
        <p:nvSpPr>
          <p:cNvPr id="36" name="Shape 34"/>
          <p:cNvSpPr/>
          <p:nvPr/>
        </p:nvSpPr>
        <p:spPr>
          <a:xfrm>
            <a:off x="8359389" y="5287569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650784" y="5206465"/>
            <a:ext cx="2724912" cy="441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20" dirty="0">
                <a:solidFill>
                  <a:srgbClr val="0F172A"/>
                </a:solidFill>
              </a:rPr>
              <a:t>Advanced analytics or recommendation engine</a:t>
            </a:r>
            <a:endParaRPr lang="en-US" sz="152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47556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  <p:sp>
        <p:nvSpPr>
          <p:cNvPr id="39" name="Shape 8">
            <a:extLst>
              <a:ext uri="{FF2B5EF4-FFF2-40B4-BE49-F238E27FC236}">
                <a16:creationId xmlns:a16="http://schemas.microsoft.com/office/drawing/2014/main" id="{5F9E7875-3A70-23FC-3113-40F9CAD79DBE}"/>
              </a:ext>
            </a:extLst>
          </p:cNvPr>
          <p:cNvSpPr/>
          <p:nvPr/>
        </p:nvSpPr>
        <p:spPr>
          <a:xfrm>
            <a:off x="770150" y="4408714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0" name="Shape 16">
            <a:extLst>
              <a:ext uri="{FF2B5EF4-FFF2-40B4-BE49-F238E27FC236}">
                <a16:creationId xmlns:a16="http://schemas.microsoft.com/office/drawing/2014/main" id="{87F4A556-AB0D-2238-587E-30D8F175D987}"/>
              </a:ext>
            </a:extLst>
          </p:cNvPr>
          <p:cNvSpPr/>
          <p:nvPr/>
        </p:nvSpPr>
        <p:spPr>
          <a:xfrm>
            <a:off x="4708042" y="2858261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1" name="Shape 16">
            <a:extLst>
              <a:ext uri="{FF2B5EF4-FFF2-40B4-BE49-F238E27FC236}">
                <a16:creationId xmlns:a16="http://schemas.microsoft.com/office/drawing/2014/main" id="{5A4DCCD1-1E6E-AAD0-4CA4-3C03DE231CEF}"/>
              </a:ext>
            </a:extLst>
          </p:cNvPr>
          <p:cNvSpPr/>
          <p:nvPr/>
        </p:nvSpPr>
        <p:spPr>
          <a:xfrm>
            <a:off x="4708042" y="3819314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2" name="Shape 16">
            <a:extLst>
              <a:ext uri="{FF2B5EF4-FFF2-40B4-BE49-F238E27FC236}">
                <a16:creationId xmlns:a16="http://schemas.microsoft.com/office/drawing/2014/main" id="{FE3CAAD8-87C6-5B0D-2AD2-0E4BBD88E1B0}"/>
              </a:ext>
            </a:extLst>
          </p:cNvPr>
          <p:cNvSpPr/>
          <p:nvPr/>
        </p:nvSpPr>
        <p:spPr>
          <a:xfrm>
            <a:off x="4717372" y="4827020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3" name="Shape 27">
            <a:extLst>
              <a:ext uri="{FF2B5EF4-FFF2-40B4-BE49-F238E27FC236}">
                <a16:creationId xmlns:a16="http://schemas.microsoft.com/office/drawing/2014/main" id="{3E908185-9917-658B-7009-1F476EC7F960}"/>
              </a:ext>
            </a:extLst>
          </p:cNvPr>
          <p:cNvSpPr/>
          <p:nvPr/>
        </p:nvSpPr>
        <p:spPr>
          <a:xfrm>
            <a:off x="8366201" y="3305635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2692400" cy="384048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System Overview 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2423160" y="1856232"/>
            <a:ext cx="1417320" cy="0"/>
          </a:xfrm>
          <a:prstGeom prst="line">
            <a:avLst/>
          </a:prstGeom>
          <a:noFill/>
          <a:ln w="17780">
            <a:solidFill>
              <a:schemeClr val="tx1"/>
            </a:solidFill>
            <a:prstDash val="solid"/>
            <a:headEnd type="none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5532120" y="1463040"/>
            <a:ext cx="0" cy="2907792"/>
          </a:xfrm>
          <a:prstGeom prst="line">
            <a:avLst/>
          </a:prstGeom>
          <a:noFill/>
          <a:ln w="17780">
            <a:solidFill>
              <a:schemeClr val="tx1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5532120" y="1627632"/>
            <a:ext cx="1920240" cy="0"/>
          </a:xfrm>
          <a:prstGeom prst="line">
            <a:avLst/>
          </a:prstGeom>
          <a:noFill/>
          <a:ln w="17780">
            <a:solidFill>
              <a:schemeClr val="tx1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5532120" y="2542032"/>
            <a:ext cx="1920240" cy="0"/>
          </a:xfrm>
          <a:prstGeom prst="line">
            <a:avLst/>
          </a:prstGeom>
          <a:noFill/>
          <a:ln w="17780">
            <a:solidFill>
              <a:schemeClr val="tx1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532120" y="3456432"/>
            <a:ext cx="1920240" cy="0"/>
          </a:xfrm>
          <a:prstGeom prst="line">
            <a:avLst/>
          </a:prstGeom>
          <a:noFill/>
          <a:ln w="17780">
            <a:solidFill>
              <a:schemeClr val="tx1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532120" y="4370832"/>
            <a:ext cx="1920240" cy="0"/>
          </a:xfrm>
          <a:prstGeom prst="line">
            <a:avLst/>
          </a:prstGeom>
          <a:noFill/>
          <a:ln w="17780">
            <a:solidFill>
              <a:schemeClr val="tx1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183880" y="4645152"/>
            <a:ext cx="0" cy="411480"/>
          </a:xfrm>
          <a:prstGeom prst="line">
            <a:avLst/>
          </a:prstGeom>
          <a:noFill/>
          <a:ln w="17780">
            <a:solidFill>
              <a:schemeClr val="tx1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9509760" y="4645152"/>
            <a:ext cx="0" cy="411480"/>
          </a:xfrm>
          <a:prstGeom prst="line">
            <a:avLst/>
          </a:prstGeom>
          <a:noFill/>
          <a:ln w="17780">
            <a:solidFill>
              <a:schemeClr val="tx1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10835640" y="4645152"/>
            <a:ext cx="0" cy="411480"/>
          </a:xfrm>
          <a:prstGeom prst="line">
            <a:avLst/>
          </a:prstGeom>
          <a:noFill/>
          <a:ln w="17780">
            <a:solidFill>
              <a:schemeClr val="tx1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40080" y="1417320"/>
            <a:ext cx="1783080" cy="868680"/>
          </a:xfrm>
          <a:prstGeom prst="roundRect">
            <a:avLst>
              <a:gd name="adj" fmla="val 7368"/>
            </a:avLst>
          </a:prstGeom>
          <a:solidFill>
            <a:srgbClr val="DBEAFE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4944" y="1508760"/>
            <a:ext cx="1673352" cy="7406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563EB"/>
                </a:solidFill>
              </a:rPr>
              <a:t>Angular Frontend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2563EB"/>
                </a:solidFill>
              </a:rPr>
              <a:t>login • catalog • cart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3840480" y="1417320"/>
            <a:ext cx="1691640" cy="868680"/>
          </a:xfrm>
          <a:prstGeom prst="roundRect">
            <a:avLst>
              <a:gd name="adj" fmla="val 7368"/>
            </a:avLst>
          </a:prstGeom>
          <a:solidFill>
            <a:srgbClr val="EDE9FE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95344" y="1508760"/>
            <a:ext cx="1581912" cy="7406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7C3AED"/>
                </a:solidFill>
              </a:rPr>
              <a:t>API Gateway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7C3AED"/>
                </a:solidFill>
              </a:rPr>
              <a:t>Port 9999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7452360" y="1161288"/>
            <a:ext cx="1417320" cy="777240"/>
          </a:xfrm>
          <a:prstGeom prst="roundRect">
            <a:avLst>
              <a:gd name="adj" fmla="val 8235"/>
            </a:avLst>
          </a:prstGeom>
          <a:solidFill>
            <a:srgbClr val="CCFBF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07224" y="1252728"/>
            <a:ext cx="1307592" cy="6492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F766E"/>
                </a:solidFill>
              </a:rPr>
              <a:t>USERMS-W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0F766E"/>
                </a:solidFill>
              </a:rPr>
              <a:t>Port 8081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7452360" y="2075688"/>
            <a:ext cx="1417320" cy="777240"/>
          </a:xfrm>
          <a:prstGeom prst="roundRect">
            <a:avLst>
              <a:gd name="adj" fmla="val 8235"/>
            </a:avLst>
          </a:prstGeom>
          <a:solidFill>
            <a:srgbClr val="CCFBF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07224" y="2167128"/>
            <a:ext cx="1307592" cy="6492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F766E"/>
                </a:solidFill>
              </a:rPr>
              <a:t>USERMS-R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0F766E"/>
                </a:solidFill>
              </a:rPr>
              <a:t>Port 8082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7452360" y="2990088"/>
            <a:ext cx="1417320" cy="777240"/>
          </a:xfrm>
          <a:prstGeom prst="roundRect">
            <a:avLst>
              <a:gd name="adj" fmla="val 8235"/>
            </a:avLst>
          </a:prstGeom>
          <a:solidFill>
            <a:srgbClr val="DCFCE7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07224" y="3081528"/>
            <a:ext cx="1307592" cy="6492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6A34A"/>
                </a:solidFill>
              </a:rPr>
              <a:t>PRODUCT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16A34A"/>
                </a:solidFill>
              </a:rPr>
              <a:t>Port 8083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7452360" y="3904488"/>
            <a:ext cx="1417320" cy="777240"/>
          </a:xfrm>
          <a:prstGeom prst="roundRect">
            <a:avLst>
              <a:gd name="adj" fmla="val 8235"/>
            </a:avLst>
          </a:prstGeom>
          <a:solidFill>
            <a:srgbClr val="DCFCE7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07224" y="3995928"/>
            <a:ext cx="1307592" cy="6492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6A34A"/>
                </a:solidFill>
              </a:rPr>
              <a:t>ORDER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16A34A"/>
                </a:solidFill>
              </a:rPr>
              <a:t>Port 8084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9144000" y="3904488"/>
            <a:ext cx="960120" cy="777240"/>
          </a:xfrm>
          <a:prstGeom prst="roundRect">
            <a:avLst>
              <a:gd name="adj" fmla="val 8235"/>
            </a:avLst>
          </a:prstGeom>
          <a:solidFill>
            <a:srgbClr val="F1F5F9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98864" y="3995928"/>
            <a:ext cx="850392" cy="6492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475569"/>
                </a:solidFill>
              </a:rPr>
              <a:t>Config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475569"/>
                </a:solidFill>
              </a:rPr>
              <a:t>8888</a:t>
            </a:r>
            <a:endParaRPr lang="en-US" sz="1450" dirty="0"/>
          </a:p>
        </p:txBody>
      </p:sp>
      <p:sp>
        <p:nvSpPr>
          <p:cNvPr id="27" name="Shape 25"/>
          <p:cNvSpPr/>
          <p:nvPr/>
        </p:nvSpPr>
        <p:spPr>
          <a:xfrm>
            <a:off x="10287000" y="3904488"/>
            <a:ext cx="914400" cy="777240"/>
          </a:xfrm>
          <a:prstGeom prst="roundRect">
            <a:avLst>
              <a:gd name="adj" fmla="val 8235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341864" y="3995928"/>
            <a:ext cx="804672" cy="6492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475569"/>
                </a:solidFill>
              </a:rPr>
              <a:t>Eureka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475569"/>
                </a:solidFill>
              </a:rPr>
              <a:t>8761</a:t>
            </a:r>
            <a:endParaRPr lang="en-US" sz="1450" dirty="0"/>
          </a:p>
        </p:txBody>
      </p:sp>
      <p:sp>
        <p:nvSpPr>
          <p:cNvPr id="29" name="Shape 27"/>
          <p:cNvSpPr/>
          <p:nvPr/>
        </p:nvSpPr>
        <p:spPr>
          <a:xfrm>
            <a:off x="7543800" y="5074920"/>
            <a:ext cx="1234440" cy="566928"/>
          </a:xfrm>
          <a:prstGeom prst="roundRect">
            <a:avLst>
              <a:gd name="adj" fmla="val 11290"/>
            </a:avLst>
          </a:prstGeom>
          <a:solidFill>
            <a:srgbClr val="FEF3C7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598664" y="5166360"/>
            <a:ext cx="11247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92400E"/>
                </a:solidFill>
              </a:rPr>
              <a:t>MySQL</a:t>
            </a:r>
            <a:endParaRPr lang="en-US" sz="1450" dirty="0"/>
          </a:p>
        </p:txBody>
      </p:sp>
      <p:sp>
        <p:nvSpPr>
          <p:cNvPr id="31" name="Shape 29"/>
          <p:cNvSpPr/>
          <p:nvPr/>
        </p:nvSpPr>
        <p:spPr>
          <a:xfrm>
            <a:off x="8869680" y="5074920"/>
            <a:ext cx="1234440" cy="566928"/>
          </a:xfrm>
          <a:prstGeom prst="roundRect">
            <a:avLst>
              <a:gd name="adj" fmla="val 11290"/>
            </a:avLst>
          </a:prstGeom>
          <a:solidFill>
            <a:srgbClr val="FEF9C3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924544" y="5166360"/>
            <a:ext cx="11247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92400E"/>
                </a:solidFill>
              </a:rPr>
              <a:t>Kafka</a:t>
            </a:r>
            <a:endParaRPr lang="en-US" sz="1450" dirty="0"/>
          </a:p>
        </p:txBody>
      </p:sp>
      <p:sp>
        <p:nvSpPr>
          <p:cNvPr id="33" name="Shape 31"/>
          <p:cNvSpPr/>
          <p:nvPr/>
        </p:nvSpPr>
        <p:spPr>
          <a:xfrm>
            <a:off x="10195560" y="5074920"/>
            <a:ext cx="1234440" cy="566928"/>
          </a:xfrm>
          <a:prstGeom prst="roundRect">
            <a:avLst>
              <a:gd name="adj" fmla="val 11290"/>
            </a:avLst>
          </a:prstGeom>
          <a:solidFill>
            <a:srgbClr val="E2E8F0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250424" y="5166360"/>
            <a:ext cx="11247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475569"/>
                </a:solidFill>
              </a:rPr>
              <a:t>Zipkin</a:t>
            </a:r>
            <a:endParaRPr lang="en-US" sz="1450" dirty="0"/>
          </a:p>
        </p:txBody>
      </p:sp>
      <p:sp>
        <p:nvSpPr>
          <p:cNvPr id="35" name="Shape 33"/>
          <p:cNvSpPr/>
          <p:nvPr/>
        </p:nvSpPr>
        <p:spPr>
          <a:xfrm>
            <a:off x="417585" y="4024894"/>
            <a:ext cx="5059671" cy="2256016"/>
          </a:xfrm>
          <a:prstGeom prst="roundRect">
            <a:avLst>
              <a:gd name="adj" fmla="val 407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05535" y="4103644"/>
            <a:ext cx="841248" cy="283464"/>
          </a:xfrm>
          <a:prstGeom prst="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63EB"/>
                </a:solidFill>
              </a:rPr>
              <a:t>Workflow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59892" y="4364999"/>
            <a:ext cx="4708144" cy="160272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F172A"/>
                </a:solidFill>
              </a:rPr>
              <a:t>Angular UI sends requests through the API Gateway.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F172A"/>
                </a:solidFill>
              </a:rPr>
              <a:t>USERMS-W and USERMS-R separate write and read responsibilities.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F172A"/>
                </a:solidFill>
              </a:rPr>
              <a:t>Order and Product services coordinate using REST + Kafka events.</a:t>
            </a:r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47556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39" y="347472"/>
            <a:ext cx="5404291" cy="384048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Technology Stack &amp; Implementation  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44500" y="1172464"/>
            <a:ext cx="2423160" cy="4892040"/>
          </a:xfrm>
          <a:prstGeom prst="roundRect">
            <a:avLst>
              <a:gd name="adj" fmla="val 2642"/>
            </a:avLst>
          </a:prstGeom>
          <a:solidFill>
            <a:srgbClr val="FFFFFF"/>
          </a:solidFill>
          <a:ln w="12700">
            <a:solidFill>
              <a:srgbClr val="002060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5" name="Text 3"/>
          <p:cNvSpPr/>
          <p:nvPr/>
        </p:nvSpPr>
        <p:spPr>
          <a:xfrm>
            <a:off x="777240" y="1297431"/>
            <a:ext cx="1737360" cy="375921"/>
          </a:xfrm>
          <a:prstGeom prst="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563EB"/>
                </a:solidFill>
              </a:rPr>
              <a:t>Frontend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90296" y="1943100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1434" y="1886459"/>
            <a:ext cx="2037588" cy="4373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30" dirty="0">
                <a:solidFill>
                  <a:srgbClr val="0F172A"/>
                </a:solidFill>
              </a:rPr>
              <a:t>Angular 19 standalone components</a:t>
            </a:r>
            <a:endParaRPr lang="en-US" sz="1530" dirty="0"/>
          </a:p>
        </p:txBody>
      </p:sp>
      <p:sp>
        <p:nvSpPr>
          <p:cNvPr id="8" name="Shape 6"/>
          <p:cNvSpPr/>
          <p:nvPr/>
        </p:nvSpPr>
        <p:spPr>
          <a:xfrm>
            <a:off x="613410" y="4361182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1434" y="2304288"/>
            <a:ext cx="1954276" cy="5110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30" dirty="0">
                <a:solidFill>
                  <a:srgbClr val="0F172A"/>
                </a:solidFill>
              </a:rPr>
              <a:t>TypeScript, HTML, CSS</a:t>
            </a:r>
            <a:endParaRPr lang="en-US" sz="1530" dirty="0"/>
          </a:p>
        </p:txBody>
      </p:sp>
      <p:sp>
        <p:nvSpPr>
          <p:cNvPr id="10" name="Shape 8"/>
          <p:cNvSpPr/>
          <p:nvPr/>
        </p:nvSpPr>
        <p:spPr>
          <a:xfrm>
            <a:off x="595376" y="2491229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0456" y="2941322"/>
            <a:ext cx="1905254" cy="349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30" dirty="0">
                <a:solidFill>
                  <a:srgbClr val="0F172A"/>
                </a:solidFill>
              </a:rPr>
              <a:t>Angular Router + auth guard</a:t>
            </a:r>
            <a:endParaRPr lang="en-US" sz="1530" dirty="0"/>
          </a:p>
        </p:txBody>
      </p:sp>
      <p:sp>
        <p:nvSpPr>
          <p:cNvPr id="12" name="Shape 10"/>
          <p:cNvSpPr/>
          <p:nvPr/>
        </p:nvSpPr>
        <p:spPr>
          <a:xfrm>
            <a:off x="595376" y="2944368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2386" y="3546093"/>
            <a:ext cx="1874520" cy="4373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30" dirty="0">
                <a:solidFill>
                  <a:srgbClr val="0F172A"/>
                </a:solidFill>
              </a:rPr>
              <a:t>Bootstrap 5 + Bootstrap Icons</a:t>
            </a:r>
            <a:endParaRPr lang="en-US" sz="1530" dirty="0"/>
          </a:p>
        </p:txBody>
      </p:sp>
      <p:sp>
        <p:nvSpPr>
          <p:cNvPr id="14" name="Shape 12"/>
          <p:cNvSpPr/>
          <p:nvPr/>
        </p:nvSpPr>
        <p:spPr>
          <a:xfrm>
            <a:off x="613410" y="3590546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2668" y="4255007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30" dirty="0">
                <a:solidFill>
                  <a:srgbClr val="0F172A"/>
                </a:solidFill>
              </a:rPr>
              <a:t>RxJS + HttpClient</a:t>
            </a:r>
            <a:endParaRPr lang="en-US" sz="1530" dirty="0"/>
          </a:p>
        </p:txBody>
      </p:sp>
      <p:sp>
        <p:nvSpPr>
          <p:cNvPr id="16" name="Shape 14"/>
          <p:cNvSpPr/>
          <p:nvPr/>
        </p:nvSpPr>
        <p:spPr>
          <a:xfrm>
            <a:off x="3429000" y="1170432"/>
            <a:ext cx="2423160" cy="4892040"/>
          </a:xfrm>
          <a:prstGeom prst="roundRect">
            <a:avLst>
              <a:gd name="adj" fmla="val 2642"/>
            </a:avLst>
          </a:prstGeom>
          <a:solidFill>
            <a:srgbClr val="FFFFFF"/>
          </a:solidFill>
          <a:ln w="12700">
            <a:solidFill>
              <a:srgbClr val="002060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982720" y="1297430"/>
            <a:ext cx="1270000" cy="375921"/>
          </a:xfrm>
          <a:prstGeom prst="rect">
            <a:avLst/>
          </a:prstGeom>
          <a:solidFill>
            <a:srgbClr val="DCFCE7"/>
          </a:solidFill>
          <a:ln>
            <a:solidFill>
              <a:srgbClr val="DCFCE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A34A"/>
                </a:solidFill>
              </a:rPr>
              <a:t>Backend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561588" y="1943100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99332" y="1855216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30" dirty="0">
                <a:solidFill>
                  <a:srgbClr val="0F172A"/>
                </a:solidFill>
              </a:rPr>
              <a:t>Java 21 + Spring Boot</a:t>
            </a:r>
            <a:endParaRPr lang="en-US" sz="1530" dirty="0"/>
          </a:p>
        </p:txBody>
      </p:sp>
      <p:sp>
        <p:nvSpPr>
          <p:cNvPr id="20" name="Shape 18"/>
          <p:cNvSpPr/>
          <p:nvPr/>
        </p:nvSpPr>
        <p:spPr>
          <a:xfrm>
            <a:off x="3561588" y="2398267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85616" y="2972307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30" dirty="0">
                <a:solidFill>
                  <a:srgbClr val="0F172A"/>
                </a:solidFill>
              </a:rPr>
              <a:t>Spring Web + Data JPA</a:t>
            </a:r>
            <a:endParaRPr lang="en-US" sz="1530" dirty="0"/>
          </a:p>
        </p:txBody>
      </p:sp>
      <p:sp>
        <p:nvSpPr>
          <p:cNvPr id="22" name="Shape 20"/>
          <p:cNvSpPr/>
          <p:nvPr/>
        </p:nvSpPr>
        <p:spPr>
          <a:xfrm>
            <a:off x="3576320" y="4230369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85616" y="2198240"/>
            <a:ext cx="1874520" cy="73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30" dirty="0">
                <a:solidFill>
                  <a:srgbClr val="0F172A"/>
                </a:solidFill>
              </a:rPr>
              <a:t>OpenFeign, Validation, Lombok</a:t>
            </a:r>
            <a:endParaRPr lang="en-US" sz="1530" dirty="0"/>
          </a:p>
        </p:txBody>
      </p:sp>
      <p:sp>
        <p:nvSpPr>
          <p:cNvPr id="24" name="Shape 22"/>
          <p:cNvSpPr/>
          <p:nvPr/>
        </p:nvSpPr>
        <p:spPr>
          <a:xfrm>
            <a:off x="3582212" y="3552950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99332" y="3499101"/>
            <a:ext cx="1874520" cy="3947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30" dirty="0">
                <a:solidFill>
                  <a:srgbClr val="0F172A"/>
                </a:solidFill>
              </a:rPr>
              <a:t>Gateway, Eureka, Config Server</a:t>
            </a:r>
            <a:endParaRPr lang="en-US" sz="1530" dirty="0"/>
          </a:p>
        </p:txBody>
      </p:sp>
      <p:sp>
        <p:nvSpPr>
          <p:cNvPr id="26" name="Shape 24"/>
          <p:cNvSpPr/>
          <p:nvPr/>
        </p:nvSpPr>
        <p:spPr>
          <a:xfrm>
            <a:off x="3570732" y="3087625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49040" y="4120897"/>
            <a:ext cx="1874520" cy="510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30" dirty="0">
                <a:solidFill>
                  <a:srgbClr val="0F172A"/>
                </a:solidFill>
              </a:rPr>
              <a:t>Springdoc Swagger / OpenAPI</a:t>
            </a:r>
            <a:endParaRPr lang="en-US" sz="1530" dirty="0"/>
          </a:p>
        </p:txBody>
      </p:sp>
      <p:sp>
        <p:nvSpPr>
          <p:cNvPr id="28" name="Shape 26"/>
          <p:cNvSpPr/>
          <p:nvPr/>
        </p:nvSpPr>
        <p:spPr>
          <a:xfrm>
            <a:off x="6339842" y="1170432"/>
            <a:ext cx="2423160" cy="4892040"/>
          </a:xfrm>
          <a:prstGeom prst="roundRect">
            <a:avLst>
              <a:gd name="adj" fmla="val 2642"/>
            </a:avLst>
          </a:prstGeom>
          <a:solidFill>
            <a:srgbClr val="FFFFFF"/>
          </a:solidFill>
          <a:ln w="12700">
            <a:solidFill>
              <a:srgbClr val="002060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720840" y="1249680"/>
            <a:ext cx="1722120" cy="429768"/>
          </a:xfrm>
          <a:prstGeom prst="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2400E"/>
                </a:solidFill>
              </a:rPr>
              <a:t>Database &amp; Infra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492240" y="1901952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77736" y="3041905"/>
            <a:ext cx="1874520" cy="413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30" dirty="0">
                <a:solidFill>
                  <a:srgbClr val="0F172A"/>
                </a:solidFill>
              </a:rPr>
              <a:t>MySQL (ecommerce_db)</a:t>
            </a:r>
            <a:endParaRPr lang="en-US" sz="1530" dirty="0"/>
          </a:p>
        </p:txBody>
      </p:sp>
      <p:sp>
        <p:nvSpPr>
          <p:cNvPr id="32" name="Shape 30"/>
          <p:cNvSpPr/>
          <p:nvPr/>
        </p:nvSpPr>
        <p:spPr>
          <a:xfrm>
            <a:off x="6492240" y="3757675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77736" y="2323844"/>
            <a:ext cx="1874520" cy="496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30" dirty="0">
                <a:solidFill>
                  <a:srgbClr val="0F172A"/>
                </a:solidFill>
              </a:rPr>
              <a:t>Kafka for async order events</a:t>
            </a:r>
            <a:endParaRPr lang="en-US" sz="1530" dirty="0"/>
          </a:p>
        </p:txBody>
      </p:sp>
      <p:sp>
        <p:nvSpPr>
          <p:cNvPr id="34" name="Shape 32"/>
          <p:cNvSpPr/>
          <p:nvPr/>
        </p:nvSpPr>
        <p:spPr>
          <a:xfrm>
            <a:off x="6492240" y="2439415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77736" y="1830833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30" dirty="0">
                <a:solidFill>
                  <a:srgbClr val="0F172A"/>
                </a:solidFill>
              </a:rPr>
              <a:t>Zipkin tracing</a:t>
            </a:r>
            <a:endParaRPr lang="en-US" sz="1530" dirty="0"/>
          </a:p>
        </p:txBody>
      </p:sp>
      <p:sp>
        <p:nvSpPr>
          <p:cNvPr id="36" name="Shape 34"/>
          <p:cNvSpPr/>
          <p:nvPr/>
        </p:nvSpPr>
        <p:spPr>
          <a:xfrm>
            <a:off x="6507480" y="4511039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777736" y="3798823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30" dirty="0">
                <a:solidFill>
                  <a:srgbClr val="0F172A"/>
                </a:solidFill>
              </a:rPr>
              <a:t>Prometheus metrics / Actuator</a:t>
            </a:r>
            <a:endParaRPr lang="en-US" sz="1530" dirty="0"/>
          </a:p>
        </p:txBody>
      </p:sp>
      <p:sp>
        <p:nvSpPr>
          <p:cNvPr id="38" name="Shape 36"/>
          <p:cNvSpPr/>
          <p:nvPr/>
        </p:nvSpPr>
        <p:spPr>
          <a:xfrm>
            <a:off x="6492240" y="3070353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757414" y="4423158"/>
            <a:ext cx="1874520" cy="476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30" dirty="0">
                <a:solidFill>
                  <a:srgbClr val="0F172A"/>
                </a:solidFill>
              </a:rPr>
              <a:t>Resilience4j circuit breaker</a:t>
            </a:r>
            <a:endParaRPr lang="en-US" sz="1530" dirty="0"/>
          </a:p>
        </p:txBody>
      </p:sp>
      <p:sp>
        <p:nvSpPr>
          <p:cNvPr id="40" name="Shape 38"/>
          <p:cNvSpPr/>
          <p:nvPr/>
        </p:nvSpPr>
        <p:spPr>
          <a:xfrm>
            <a:off x="9212580" y="1189226"/>
            <a:ext cx="2423160" cy="4892040"/>
          </a:xfrm>
          <a:prstGeom prst="roundRect">
            <a:avLst>
              <a:gd name="adj" fmla="val 2642"/>
            </a:avLst>
          </a:prstGeom>
          <a:solidFill>
            <a:srgbClr val="FFFFFF"/>
          </a:solidFill>
          <a:ln w="12700">
            <a:solidFill>
              <a:srgbClr val="002060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9418320" y="1229869"/>
            <a:ext cx="2011680" cy="502919"/>
          </a:xfrm>
          <a:prstGeom prst="rect">
            <a:avLst/>
          </a:prstGeom>
          <a:solidFill>
            <a:srgbClr val="EDE9FE"/>
          </a:solidFill>
          <a:ln>
            <a:solidFill>
              <a:srgbClr val="EDE9F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C3AED"/>
                </a:solidFill>
              </a:rPr>
              <a:t>Implementation Highlights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9357360" y="1931924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589008" y="1745997"/>
            <a:ext cx="1874520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30" dirty="0">
                <a:solidFill>
                  <a:srgbClr val="0F172A"/>
                </a:solidFill>
              </a:rPr>
              <a:t>Separate user read/write services</a:t>
            </a:r>
            <a:endParaRPr lang="en-US" sz="1530" dirty="0"/>
          </a:p>
        </p:txBody>
      </p:sp>
      <p:sp>
        <p:nvSpPr>
          <p:cNvPr id="44" name="Shape 42"/>
          <p:cNvSpPr/>
          <p:nvPr/>
        </p:nvSpPr>
        <p:spPr>
          <a:xfrm>
            <a:off x="9372498" y="4638040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566046" y="2416551"/>
            <a:ext cx="1874520" cy="581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30" dirty="0">
                <a:solidFill>
                  <a:srgbClr val="0F172A"/>
                </a:solidFill>
              </a:rPr>
              <a:t>Admin dashboard + product CRUD</a:t>
            </a:r>
            <a:endParaRPr lang="en-US" sz="1530" dirty="0"/>
          </a:p>
        </p:txBody>
      </p:sp>
      <p:sp>
        <p:nvSpPr>
          <p:cNvPr id="46" name="Shape 44"/>
          <p:cNvSpPr/>
          <p:nvPr/>
        </p:nvSpPr>
        <p:spPr>
          <a:xfrm>
            <a:off x="9352584" y="2532377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555480" y="3019551"/>
            <a:ext cx="1874520" cy="6939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30" dirty="0">
                <a:solidFill>
                  <a:srgbClr val="0F172A"/>
                </a:solidFill>
              </a:rPr>
              <a:t>Customer dashboard, cart, wishlist, orders</a:t>
            </a:r>
            <a:endParaRPr lang="en-US" sz="1530" dirty="0"/>
          </a:p>
        </p:txBody>
      </p:sp>
      <p:sp>
        <p:nvSpPr>
          <p:cNvPr id="48" name="Shape 46"/>
          <p:cNvSpPr/>
          <p:nvPr/>
        </p:nvSpPr>
        <p:spPr>
          <a:xfrm>
            <a:off x="9372498" y="3893822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607500" y="3926839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30" dirty="0">
                <a:solidFill>
                  <a:srgbClr val="0F172A"/>
                </a:solidFill>
              </a:rPr>
              <a:t>Checkout UI with validation</a:t>
            </a:r>
            <a:endParaRPr lang="en-US" sz="1530" dirty="0"/>
          </a:p>
        </p:txBody>
      </p:sp>
      <p:sp>
        <p:nvSpPr>
          <p:cNvPr id="50" name="Shape 48"/>
          <p:cNvSpPr/>
          <p:nvPr/>
        </p:nvSpPr>
        <p:spPr>
          <a:xfrm>
            <a:off x="9372498" y="3185414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607500" y="4593335"/>
            <a:ext cx="1874520" cy="416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30" dirty="0">
                <a:solidFill>
                  <a:srgbClr val="0F172A"/>
                </a:solidFill>
              </a:rPr>
              <a:t>Global exception handling + tests</a:t>
            </a:r>
            <a:endParaRPr lang="en-US" sz="1530" dirty="0"/>
          </a:p>
        </p:txBody>
      </p:sp>
      <p:sp>
        <p:nvSpPr>
          <p:cNvPr id="52" name="Text 50"/>
          <p:cNvSpPr/>
          <p:nvPr/>
        </p:nvSpPr>
        <p:spPr>
          <a:xfrm>
            <a:off x="486179" y="6188150"/>
            <a:ext cx="8433886" cy="352045"/>
          </a:xfrm>
          <a:prstGeom prst="rect">
            <a:avLst/>
          </a:prstGeom>
          <a:noFill/>
          <a:ln>
            <a:solidFill>
              <a:schemeClr val="bg2">
                <a:lumMod val="25000"/>
              </a:schemeClr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475569"/>
                </a:solidFill>
              </a:rPr>
              <a:t> Ports: Gateway 9999  |  User-W 8081  |  User-R 8082  |  Product 8083  |  Order 8084  |  Config 8888  |  Registry 8761</a:t>
            </a:r>
            <a:endParaRPr lang="en-US" sz="1320" dirty="0"/>
          </a:p>
        </p:txBody>
      </p:sp>
      <p:sp>
        <p:nvSpPr>
          <p:cNvPr id="5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47556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224176" cy="384048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Output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5074920" cy="4846320"/>
          </a:xfrm>
          <a:prstGeom prst="roundRect">
            <a:avLst>
              <a:gd name="adj" fmla="val 1321"/>
            </a:avLst>
          </a:prstGeom>
          <a:solidFill>
            <a:srgbClr val="FFFFFF"/>
          </a:solidFill>
          <a:ln w="12700">
            <a:solidFill>
              <a:srgbClr val="002060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243584"/>
            <a:ext cx="1999488" cy="429768"/>
          </a:xfrm>
          <a:prstGeom prst="rect">
            <a:avLst/>
          </a:prstGeom>
          <a:solidFill>
            <a:srgbClr val="DCFCE7"/>
          </a:solidFill>
          <a:ln>
            <a:solidFill>
              <a:srgbClr val="DCFCE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A34A"/>
                </a:solidFill>
              </a:rPr>
              <a:t>Key Results Achieved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1810512"/>
            <a:ext cx="4526280" cy="841248"/>
          </a:xfrm>
          <a:prstGeom prst="roundRect">
            <a:avLst>
              <a:gd name="adj" fmla="val 7609"/>
            </a:avLst>
          </a:prstGeom>
          <a:solidFill>
            <a:srgbClr val="F8FAFC"/>
          </a:solidFill>
          <a:ln w="12700">
            <a:solidFill>
              <a:schemeClr val="tx1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87552" y="1956816"/>
            <a:ext cx="16002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11+ UI Screens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926080" y="1920240"/>
            <a:ext cx="2265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/>
              <a:t>login, register, admin/user dashboard, profile, cart, payment, orders, wishlist</a:t>
            </a:r>
          </a:p>
        </p:txBody>
      </p:sp>
      <p:sp>
        <p:nvSpPr>
          <p:cNvPr id="9" name="Shape 7"/>
          <p:cNvSpPr/>
          <p:nvPr/>
        </p:nvSpPr>
        <p:spPr>
          <a:xfrm>
            <a:off x="822960" y="2743200"/>
            <a:ext cx="4526280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chemeClr val="tx1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87552" y="2889504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7 Backend Components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926080" y="2871216"/>
            <a:ext cx="2148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/>
              <a:t>API Gateway, Config Server, Eureka, UserMS-R, UserMS-W, Product, Order</a:t>
            </a:r>
          </a:p>
        </p:txBody>
      </p:sp>
      <p:sp>
        <p:nvSpPr>
          <p:cNvPr id="12" name="Shape 10"/>
          <p:cNvSpPr/>
          <p:nvPr/>
        </p:nvSpPr>
        <p:spPr>
          <a:xfrm>
            <a:off x="822960" y="3675888"/>
            <a:ext cx="4526280" cy="841248"/>
          </a:xfrm>
          <a:prstGeom prst="roundRect">
            <a:avLst>
              <a:gd name="adj" fmla="val 7609"/>
            </a:avLst>
          </a:prstGeom>
          <a:solidFill>
            <a:srgbClr val="F8FAFC"/>
          </a:solidFill>
          <a:ln w="12700">
            <a:solidFill>
              <a:schemeClr val="tx1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87552" y="3822192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Core Business Flow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926080" y="3803904"/>
            <a:ext cx="2148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/>
              <a:t>catalog browsing → cart → checkout UI → order history with cancel support</a:t>
            </a:r>
          </a:p>
        </p:txBody>
      </p:sp>
      <p:sp>
        <p:nvSpPr>
          <p:cNvPr id="15" name="Shape 13"/>
          <p:cNvSpPr/>
          <p:nvPr/>
        </p:nvSpPr>
        <p:spPr>
          <a:xfrm>
            <a:off x="822960" y="4608576"/>
            <a:ext cx="4526280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chemeClr val="tx1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87552" y="4754880"/>
            <a:ext cx="1600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Operational Features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926080" y="4736592"/>
            <a:ext cx="2148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/>
              <a:t>Swagger-ready APIs, Kafka config, tracing, metrics, and circuit breaker setup</a:t>
            </a:r>
          </a:p>
        </p:txBody>
      </p:sp>
      <p:sp>
        <p:nvSpPr>
          <p:cNvPr id="18" name="Shape 16"/>
          <p:cNvSpPr/>
          <p:nvPr/>
        </p:nvSpPr>
        <p:spPr>
          <a:xfrm>
            <a:off x="5806440" y="1170432"/>
            <a:ext cx="5806440" cy="4846320"/>
          </a:xfrm>
          <a:prstGeom prst="roundRect">
            <a:avLst>
              <a:gd name="adj" fmla="val 1321"/>
            </a:avLst>
          </a:prstGeom>
          <a:solidFill>
            <a:srgbClr val="FFFFFF"/>
          </a:solidFill>
          <a:ln w="12700">
            <a:solidFill>
              <a:srgbClr val="002060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080760" y="1303020"/>
            <a:ext cx="2118360" cy="393192"/>
          </a:xfrm>
          <a:prstGeom prst="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563EB"/>
                </a:solidFill>
              </a:rPr>
              <a:t>Sample Use Case Flow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199632" y="1828800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9632" y="1920240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766560" y="1874520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0F172A"/>
                </a:solidFill>
              </a:rPr>
              <a:t>Customer login / register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6391656" y="2212848"/>
            <a:ext cx="0" cy="384048"/>
          </a:xfrm>
          <a:prstGeom prst="line">
            <a:avLst/>
          </a:prstGeom>
          <a:noFill/>
          <a:ln w="1778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199632" y="2587752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99632" y="2679192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766560" y="2633472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0F172A"/>
                </a:solidFill>
              </a:rPr>
              <a:t>Browse products and add items to cart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6391656" y="2971800"/>
            <a:ext cx="0" cy="384048"/>
          </a:xfrm>
          <a:prstGeom prst="line">
            <a:avLst/>
          </a:prstGeom>
          <a:noFill/>
          <a:ln w="1778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199632" y="3346704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99632" y="3438144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766560" y="3392424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0F172A"/>
                </a:solidFill>
              </a:rPr>
              <a:t>Proceed to payment page and confirm order</a:t>
            </a:r>
            <a:endParaRPr lang="en-US" sz="1650" dirty="0"/>
          </a:p>
        </p:txBody>
      </p:sp>
      <p:sp>
        <p:nvSpPr>
          <p:cNvPr id="31" name="Shape 29"/>
          <p:cNvSpPr/>
          <p:nvPr/>
        </p:nvSpPr>
        <p:spPr>
          <a:xfrm>
            <a:off x="6391656" y="3730752"/>
            <a:ext cx="0" cy="384048"/>
          </a:xfrm>
          <a:prstGeom prst="line">
            <a:avLst/>
          </a:prstGeom>
          <a:noFill/>
          <a:ln w="1778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6199632" y="4105656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99632" y="4197096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766560" y="4151376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0F172A"/>
                </a:solidFill>
              </a:rPr>
              <a:t>View order history or cancel an order</a:t>
            </a:r>
            <a:endParaRPr lang="en-US" sz="1650" dirty="0"/>
          </a:p>
        </p:txBody>
      </p:sp>
      <p:sp>
        <p:nvSpPr>
          <p:cNvPr id="35" name="Shape 33"/>
          <p:cNvSpPr/>
          <p:nvPr/>
        </p:nvSpPr>
        <p:spPr>
          <a:xfrm>
            <a:off x="6391656" y="4489704"/>
            <a:ext cx="0" cy="384048"/>
          </a:xfrm>
          <a:prstGeom prst="line">
            <a:avLst/>
          </a:prstGeom>
          <a:noFill/>
          <a:ln w="1778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6199632" y="4864608"/>
            <a:ext cx="384048" cy="38404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99632" y="4956048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A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6766560" y="4910328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F172A"/>
                </a:solidFill>
              </a:rPr>
              <a:t>Admin login and manage product catalog</a:t>
            </a:r>
            <a:endParaRPr lang="en-US" sz="1650" dirty="0"/>
          </a:p>
        </p:txBody>
      </p:sp>
      <p:sp>
        <p:nvSpPr>
          <p:cNvPr id="4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47556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4023360" cy="384048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 &amp; Future Scope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2880360" cy="493776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002060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183640" y="1346708"/>
            <a:ext cx="1376680" cy="402539"/>
          </a:xfrm>
          <a:prstGeom prst="rect">
            <a:avLst/>
          </a:prstGeom>
          <a:solidFill>
            <a:srgbClr val="CCFBF1"/>
          </a:solidFill>
          <a:ln>
            <a:solidFill>
              <a:srgbClr val="CCFBF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766E"/>
                </a:solidFill>
              </a:rPr>
              <a:t>Summary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42188" y="2043684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8408" y="1920240"/>
            <a:ext cx="2359152" cy="1040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40" dirty="0">
                <a:solidFill>
                  <a:srgbClr val="0F172A"/>
                </a:solidFill>
              </a:rPr>
              <a:t>Built a mini ecommerce solution using Angular frontend and Spring Boot microservices.</a:t>
            </a:r>
            <a:endParaRPr lang="en-US" sz="1540" dirty="0"/>
          </a:p>
        </p:txBody>
      </p:sp>
      <p:sp>
        <p:nvSpPr>
          <p:cNvPr id="8" name="Shape 6"/>
          <p:cNvSpPr/>
          <p:nvPr/>
        </p:nvSpPr>
        <p:spPr>
          <a:xfrm>
            <a:off x="701040" y="3134664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5068" y="2832864"/>
            <a:ext cx="2359152" cy="14201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40" dirty="0">
                <a:solidFill>
                  <a:srgbClr val="0F172A"/>
                </a:solidFill>
              </a:rPr>
              <a:t>Implemented user, product, cart, and order flows through a gateway-based architecture.</a:t>
            </a:r>
            <a:endParaRPr lang="en-US" sz="1540" dirty="0"/>
          </a:p>
        </p:txBody>
      </p:sp>
      <p:sp>
        <p:nvSpPr>
          <p:cNvPr id="10" name="Shape 8"/>
          <p:cNvSpPr/>
          <p:nvPr/>
        </p:nvSpPr>
        <p:spPr>
          <a:xfrm>
            <a:off x="701040" y="4335326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5068" y="4238550"/>
            <a:ext cx="2359152" cy="989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40" dirty="0">
                <a:solidFill>
                  <a:srgbClr val="0F172A"/>
                </a:solidFill>
              </a:rPr>
              <a:t>Added supporting cloud components such as Eureka, Config Server, Kafka, and metrics setup.</a:t>
            </a:r>
            <a:endParaRPr lang="en-US" sz="1540" dirty="0"/>
          </a:p>
        </p:txBody>
      </p:sp>
      <p:sp>
        <p:nvSpPr>
          <p:cNvPr id="12" name="Shape 10"/>
          <p:cNvSpPr/>
          <p:nvPr/>
        </p:nvSpPr>
        <p:spPr>
          <a:xfrm>
            <a:off x="3611880" y="1170432"/>
            <a:ext cx="2514600" cy="4937760"/>
          </a:xfrm>
          <a:prstGeom prst="roundRect">
            <a:avLst>
              <a:gd name="adj" fmla="val 2545"/>
            </a:avLst>
          </a:prstGeom>
          <a:solidFill>
            <a:srgbClr val="FFFFFF"/>
          </a:solidFill>
          <a:ln w="12700">
            <a:solidFill>
              <a:srgbClr val="002060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989324" y="1368298"/>
            <a:ext cx="1606804" cy="380950"/>
          </a:xfrm>
          <a:prstGeom prst="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2400E"/>
                </a:solidFill>
              </a:rPr>
              <a:t>Challenges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835908" y="2081124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62476" y="1920240"/>
            <a:ext cx="1993392" cy="874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40" dirty="0">
                <a:solidFill>
                  <a:srgbClr val="0F172A"/>
                </a:solidFill>
              </a:rPr>
              <a:t>Coordinating multiple microservices and port configurations.</a:t>
            </a:r>
            <a:endParaRPr lang="en-US" sz="1540" dirty="0"/>
          </a:p>
        </p:txBody>
      </p:sp>
      <p:sp>
        <p:nvSpPr>
          <p:cNvPr id="16" name="Shape 14"/>
          <p:cNvSpPr/>
          <p:nvPr/>
        </p:nvSpPr>
        <p:spPr>
          <a:xfrm>
            <a:off x="3818128" y="3954018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21328" y="3639312"/>
            <a:ext cx="1993392" cy="9676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40" dirty="0">
                <a:solidFill>
                  <a:srgbClr val="0F172A"/>
                </a:solidFill>
              </a:rPr>
              <a:t>Keeping frontend and backend flows in sync.</a:t>
            </a:r>
            <a:endParaRPr lang="en-US" sz="1540" dirty="0"/>
          </a:p>
        </p:txBody>
      </p:sp>
      <p:sp>
        <p:nvSpPr>
          <p:cNvPr id="18" name="Shape 16"/>
          <p:cNvSpPr/>
          <p:nvPr/>
        </p:nvSpPr>
        <p:spPr>
          <a:xfrm>
            <a:off x="3831844" y="2961030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42156" y="2186939"/>
            <a:ext cx="1993392" cy="20884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40" dirty="0">
                <a:solidFill>
                  <a:srgbClr val="0F172A"/>
                </a:solidFill>
              </a:rPr>
              <a:t>Handling async stock updates and observability setup.</a:t>
            </a:r>
            <a:endParaRPr lang="en-US" sz="1540" dirty="0"/>
          </a:p>
        </p:txBody>
      </p:sp>
      <p:sp>
        <p:nvSpPr>
          <p:cNvPr id="20" name="Shape 18"/>
          <p:cNvSpPr/>
          <p:nvPr/>
        </p:nvSpPr>
        <p:spPr>
          <a:xfrm>
            <a:off x="6437884" y="1170432"/>
            <a:ext cx="2514600" cy="4937760"/>
          </a:xfrm>
          <a:prstGeom prst="roundRect">
            <a:avLst>
              <a:gd name="adj" fmla="val 2545"/>
            </a:avLst>
          </a:prstGeom>
          <a:solidFill>
            <a:srgbClr val="FFFFFF"/>
          </a:solidFill>
          <a:ln w="12700">
            <a:solidFill>
              <a:srgbClr val="002060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945884" y="1358492"/>
            <a:ext cx="1498600" cy="346256"/>
          </a:xfrm>
          <a:prstGeom prst="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563EB"/>
                </a:solidFill>
              </a:rPr>
              <a:t>Limitations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623304" y="3157070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45884" y="1828800"/>
            <a:ext cx="1993392" cy="1246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40" dirty="0">
                <a:solidFill>
                  <a:srgbClr val="0F172A"/>
                </a:solidFill>
              </a:rPr>
              <a:t>Cart, wishlist, and part of order handling are still frontend storage driven.</a:t>
            </a:r>
            <a:endParaRPr lang="en-US" sz="1540" dirty="0"/>
          </a:p>
        </p:txBody>
      </p:sp>
      <p:sp>
        <p:nvSpPr>
          <p:cNvPr id="24" name="Shape 22"/>
          <p:cNvSpPr/>
          <p:nvPr/>
        </p:nvSpPr>
        <p:spPr>
          <a:xfrm>
            <a:off x="6624828" y="2058975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52488" y="3876547"/>
            <a:ext cx="1993392" cy="1460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40" dirty="0">
                <a:solidFill>
                  <a:srgbClr val="0F172A"/>
                </a:solidFill>
              </a:rPr>
              <a:t>No real payment gateway or production deployment.</a:t>
            </a:r>
            <a:endParaRPr lang="en-US" sz="1540" dirty="0"/>
          </a:p>
        </p:txBody>
      </p:sp>
      <p:sp>
        <p:nvSpPr>
          <p:cNvPr id="26" name="Shape 24"/>
          <p:cNvSpPr/>
          <p:nvPr/>
        </p:nvSpPr>
        <p:spPr>
          <a:xfrm>
            <a:off x="6647434" y="4275429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45884" y="2984144"/>
            <a:ext cx="1993392" cy="1084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40" dirty="0">
                <a:solidFill>
                  <a:srgbClr val="0F172A"/>
                </a:solidFill>
              </a:rPr>
              <a:t>Reporting and advanced search/filtering are limited.</a:t>
            </a:r>
            <a:endParaRPr lang="en-US" sz="1540" dirty="0"/>
          </a:p>
        </p:txBody>
      </p:sp>
      <p:sp>
        <p:nvSpPr>
          <p:cNvPr id="28" name="Shape 26"/>
          <p:cNvSpPr/>
          <p:nvPr/>
        </p:nvSpPr>
        <p:spPr>
          <a:xfrm>
            <a:off x="9189720" y="1170432"/>
            <a:ext cx="2450592" cy="4937760"/>
          </a:xfrm>
          <a:prstGeom prst="roundRect">
            <a:avLst>
              <a:gd name="adj" fmla="val 2612"/>
            </a:avLst>
          </a:prstGeom>
          <a:solidFill>
            <a:srgbClr val="FFFFFF"/>
          </a:solidFill>
          <a:ln w="12700">
            <a:solidFill>
              <a:srgbClr val="002060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9454896" y="1319584"/>
            <a:ext cx="2011680" cy="392276"/>
          </a:xfrm>
          <a:prstGeom prst="rect">
            <a:avLst/>
          </a:prstGeom>
          <a:solidFill>
            <a:srgbClr val="EDE9FE"/>
          </a:solidFill>
          <a:ln>
            <a:solidFill>
              <a:srgbClr val="EDE9F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C3AED"/>
                </a:solidFill>
              </a:rPr>
              <a:t>Future Enhancements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9331452" y="2081124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561576" y="2877563"/>
            <a:ext cx="1929384" cy="5142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40" dirty="0">
                <a:solidFill>
                  <a:srgbClr val="0F172A"/>
                </a:solidFill>
              </a:rPr>
              <a:t>Integrate real payment APIs and JWT auth.</a:t>
            </a:r>
            <a:endParaRPr lang="en-US" sz="1540" dirty="0"/>
          </a:p>
        </p:txBody>
      </p:sp>
      <p:sp>
        <p:nvSpPr>
          <p:cNvPr id="32" name="Shape 30"/>
          <p:cNvSpPr/>
          <p:nvPr/>
        </p:nvSpPr>
        <p:spPr>
          <a:xfrm>
            <a:off x="9342120" y="4466742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619488" y="2116990"/>
            <a:ext cx="1929384" cy="447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40" dirty="0">
                <a:solidFill>
                  <a:srgbClr val="0F172A"/>
                </a:solidFill>
              </a:rPr>
              <a:t>Move cart / wishlist fully to backend persistence.</a:t>
            </a:r>
            <a:endParaRPr lang="en-US" sz="1540" dirty="0"/>
          </a:p>
        </p:txBody>
      </p:sp>
      <p:sp>
        <p:nvSpPr>
          <p:cNvPr id="34" name="Shape 32"/>
          <p:cNvSpPr/>
          <p:nvPr/>
        </p:nvSpPr>
        <p:spPr>
          <a:xfrm>
            <a:off x="9341104" y="2983180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576816" y="3591864"/>
            <a:ext cx="1929384" cy="51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40" dirty="0">
                <a:solidFill>
                  <a:srgbClr val="0F172A"/>
                </a:solidFill>
              </a:rPr>
              <a:t>Deploy with Docker and CI/CD.</a:t>
            </a:r>
            <a:endParaRPr lang="en-US" sz="1540" dirty="0"/>
          </a:p>
        </p:txBody>
      </p:sp>
      <p:sp>
        <p:nvSpPr>
          <p:cNvPr id="36" name="Shape 34"/>
          <p:cNvSpPr/>
          <p:nvPr/>
        </p:nvSpPr>
        <p:spPr>
          <a:xfrm>
            <a:off x="9331452" y="3683813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576816" y="4351581"/>
            <a:ext cx="1929384" cy="730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40" dirty="0">
                <a:solidFill>
                  <a:srgbClr val="0F172A"/>
                </a:solidFill>
              </a:rPr>
              <a:t>Add reviews, coupons, analytics, and recommendations.</a:t>
            </a:r>
            <a:endParaRPr lang="en-US" sz="1540" dirty="0"/>
          </a:p>
        </p:txBody>
      </p:sp>
      <p:sp>
        <p:nvSpPr>
          <p:cNvPr id="38" name="Text 36"/>
          <p:cNvSpPr/>
          <p:nvPr/>
        </p:nvSpPr>
        <p:spPr>
          <a:xfrm>
            <a:off x="4855464" y="6181344"/>
            <a:ext cx="2880360" cy="50556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172A"/>
                </a:solidFill>
              </a:rPr>
              <a:t>THANK YOU </a:t>
            </a:r>
            <a:endParaRPr lang="en-US" sz="2200" dirty="0"/>
          </a:p>
        </p:txBody>
      </p:sp>
      <p:sp>
        <p:nvSpPr>
          <p:cNvPr id="3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47556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815</Words>
  <Application>Microsoft Office PowerPoint</Application>
  <PresentationFormat>Widescreen</PresentationFormat>
  <Paragraphs>139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 Ecommerce App</dc:title>
  <dc:subject>Project presentation</dc:subject>
  <dc:creator>OpenAI</dc:creator>
  <cp:lastModifiedBy>Nitish Kumar</cp:lastModifiedBy>
  <cp:revision>3</cp:revision>
  <dcterms:created xsi:type="dcterms:W3CDTF">2026-03-23T07:00:29Z</dcterms:created>
  <dcterms:modified xsi:type="dcterms:W3CDTF">2026-03-23T09:26:03Z</dcterms:modified>
</cp:coreProperties>
</file>